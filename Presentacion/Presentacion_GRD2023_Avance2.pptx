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95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1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 e Inferencia Estadística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VARIABILIDAD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HOSPITALARIA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08483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 GRD Chile 2023 — Segundo Avance de Proyecto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3657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283464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Bufadel — Renato Lenis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31546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García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Ayudante: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91640" y="347472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Bennet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947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379476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005840"/>
            <a:ext cx="2194560" cy="1005840"/>
          </a:xfrm>
          <a:prstGeom prst="rect">
            <a:avLst/>
          </a:prstGeom>
          <a:solidFill>
            <a:srgbClr val="1A3550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583680" y="1051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1.039.577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83680" y="1572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 analizados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2194560" cy="1005840"/>
          </a:xfrm>
          <a:prstGeom prst="rect">
            <a:avLst/>
          </a:prstGeom>
          <a:solidFill>
            <a:srgbClr val="1A3550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583680" y="2331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28529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 FONASA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566160"/>
            <a:ext cx="2194560" cy="1005840"/>
          </a:xfrm>
          <a:prstGeom prst="rect">
            <a:avLst/>
          </a:prstGeom>
          <a:solidFill>
            <a:srgbClr val="1A3550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58368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8368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los datos</a:t>
            </a:r>
            <a:endParaRPr lang="en-US" sz="1000" dirty="0"/>
          </a:p>
        </p:txBody>
      </p:sp>
      <p:pic>
        <p:nvPicPr>
          <p:cNvPr id="1026" name="Picture 2" descr="Logos - Imagen UDD">
            <a:extLst>
              <a:ext uri="{FF2B5EF4-FFF2-40B4-BE49-F238E27FC236}">
                <a16:creationId xmlns:a16="http://schemas.microsoft.com/office/drawing/2014/main" id="{0FC32376-7456-56C5-8CD9-57CF3686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003" y="81954"/>
            <a:ext cx="2549913" cy="89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medida la </a:t>
            </a:r>
            <a:r>
              <a:rPr lang="en-US" sz="14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clínica, el peso GRD, la edad y el sexo 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paciente explican la variación en la </a:t>
            </a:r>
            <a:r>
              <a:rPr lang="en-US" sz="14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 la hospitalización (ESTANCIA) </a:t>
            </a: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hospitales FONASA 2023, y persiste variabilidad inter-hospitalaria significativa tras controlar por estos factores?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304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743200"/>
            <a:ext cx="4572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 la hospitalización NO difiere entre niveles de severidad, una vez controlados peso GRD, edad y sexo.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45720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asociación POSITIVA y significativa entre severidad clínica y duración de hospitalización, independiente de los demás factores.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GRD FONASA Chile 2023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100584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1.039.577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777240"/>
            <a:ext cx="2011680" cy="10058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423160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2011680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663440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777240"/>
            <a:ext cx="201168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903720" y="8046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037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FONASA público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920240"/>
          <a:ext cx="8778240" cy="1813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entre ingreso y egreso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0-3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Indep.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clínica GRD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GRD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casemix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esperados por diagnóstico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EDAD_INGRESO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demog.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en años al ingreso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demog.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Masculino / Femenino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COD_HOSPITAL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hospitales FONASA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Preparación de Datos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5720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30 registros (0,003%) con nulos en SEVERIDAD, PESO e IR_MOR. Alta calidad del registro administrativo GRD. Exclusión sin impacto.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82880" y="1783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duplicados exactos verificados con pandas.duplicated() sobre CIP_ENCRIPTADO + FECHA_INGRESO + COD_HOSPITAL.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788920"/>
            <a:ext cx="457200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82880" y="27889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ESTANCIA (IQR)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Q1=1d, Q3=6d, límite=14d. 106.346 registros (10,23%) superan el límite. Concentrados en Sev 3 (28,9%). Decisión: conservar (casos clínicamente reales). Ejes truncados a 30d en visualizaciones.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794760"/>
            <a:ext cx="457200" cy="68580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82880" y="37947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 creadas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FALLECIDO (binaria desde TIPOALTA), SEXO_BIN (dummy 1=MUJER), GRUPO_EDAD (pd.cut: 6 grupos), MES_INGRESO, COD_GRD_CLEAN.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Estadística Descriptiva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138160" cy="121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ESTANCIA (días)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1.039.577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1.039.547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GRD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1.039.547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EDAD_INGRESO (años)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1.039.577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2011680"/>
            <a:ext cx="2834640" cy="804672"/>
          </a:xfrm>
          <a:prstGeom prst="rect">
            <a:avLst/>
          </a:prstGeom>
          <a:solidFill>
            <a:srgbClr val="F8FBFE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3"/>
          <p:cNvSpPr/>
          <p:nvPr/>
        </p:nvSpPr>
        <p:spPr>
          <a:xfrm>
            <a:off x="182880" y="2011680"/>
            <a:ext cx="73152" cy="804672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65760" y="203911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es marcadamente asimétrica a la derecha: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5,80d &gt;&gt; mediana 2,0d (std=12,35d)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72968" y="2011680"/>
            <a:ext cx="2834640" cy="804672"/>
          </a:xfrm>
          <a:prstGeom prst="rect">
            <a:avLst/>
          </a:prstGeom>
          <a:solidFill>
            <a:srgbClr val="F8FBF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3172968" y="2011680"/>
            <a:ext cx="73152" cy="80467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3355848" y="203911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equilibrada: Sev 0 (18,6%), Sev 1 (37,4%),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 (24,3%), Sev 3 (19,6%)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63056" y="2011680"/>
            <a:ext cx="2834640" cy="804672"/>
          </a:xfrm>
          <a:prstGeom prst="rect">
            <a:avLst/>
          </a:prstGeom>
          <a:solidFill>
            <a:srgbClr val="F8FBFE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6163056" y="2011680"/>
            <a:ext cx="73152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345936" y="203911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real 2,42% — escala 0% (Sev0)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10,80% (Sev3): gradiente clínica confirmada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07792"/>
            <a:ext cx="88696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Distribución por Severidad y Correlaciones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0"/>
            <a:ext cx="5394960" cy="2286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731520"/>
            <a:ext cx="338328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" y="3063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ESTANCIA crece monótonamente: 0,07d → 3,88d → 6,81d → 13,61d (media)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49079" y="403451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Heatmap de correlaciones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37160" y="3429000"/>
            <a:ext cx="2834640" cy="548640"/>
          </a:xfrm>
          <a:prstGeom prst="rect">
            <a:avLst/>
          </a:prstGeom>
          <a:solidFill>
            <a:srgbClr val="F0F6FC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/>
          <p:nvPr/>
        </p:nvSpPr>
        <p:spPr>
          <a:xfrm>
            <a:off x="137160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↔ PESO GRD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+0,465***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127248" y="3429000"/>
            <a:ext cx="2834640" cy="548640"/>
          </a:xfrm>
          <a:prstGeom prst="rect">
            <a:avLst/>
          </a:prstGeom>
          <a:solidFill>
            <a:srgbClr val="F0F6FC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3127248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↔ SEVERIDAD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+0,353***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17336" y="3429000"/>
            <a:ext cx="2834640" cy="548640"/>
          </a:xfrm>
          <a:prstGeom prst="rect">
            <a:avLst/>
          </a:prstGeom>
          <a:solidFill>
            <a:srgbClr val="F0F6FC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9"/>
          <p:cNvSpPr/>
          <p:nvPr/>
        </p:nvSpPr>
        <p:spPr>
          <a:xfrm>
            <a:off x="6117336" y="3429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↔ SEVERIDAD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+0,424***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37160" y="40690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correlaciones p &lt; 0,001 dado n &gt; 1M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Variabilidad Inter-hospitalaria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31520"/>
            <a:ext cx="88696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749040"/>
            <a:ext cx="2834640" cy="100584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82880" y="3794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 – 10,05d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" y="4315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ESTANCIA media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72968" y="3749040"/>
            <a:ext cx="2834640" cy="10058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172968" y="3794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0,229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172968" y="4315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variación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63056" y="3749040"/>
            <a:ext cx="28346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163056" y="3794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75,25%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63056" y="4315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no explicada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Hipótesis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347472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 — ANOVA de Una Vía: ESTANCIA ~ SEVERIDAD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03020"/>
            <a:ext cx="5120640" cy="3538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94960" y="1463040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F(3, 1.039.543) = 51.423,3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0,001 → Rechazar H₀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= 0,1292 (12,9% de varianza explicada)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pares significativos (Tukey HSD)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salto: Sev2→Sev3 (+6,79d)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58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10287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Chi-cuadrado — Mortalidad en detalle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0"/>
            <a:ext cx="886968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482803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χ²=76.265 (Severidad) y χ²=1.814 (Sexo) — ambos p&lt;0,001 — se rechaza independencia en los dos casos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Regresión Lineal Múltiple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ESTANCIA ~ C(SEVERIDAD) + PESO + EDAD_INGRESO + SEXO_BIN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97280"/>
          <a:ext cx="8778240" cy="17602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C(SEV)[1] — Menor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+3,570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[+3,510; +3,630]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C(SEV)[2] — Moderada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+153,2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[+4,946; +5,074]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C(SEV)[3] — Mayor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+7,424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+198,8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[+7,351; +7,498]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GRD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+4,352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+396,4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[+4,331; +4,374]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EDAD_INGRESO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[+0,009; +0,010]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SEXO_BIN (Mujer)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[-0,523; -0,438]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154680"/>
            <a:ext cx="1920240" cy="73152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82880" y="3154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0,2475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40280" y="3154680"/>
            <a:ext cx="2194560" cy="73152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224028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56.981,7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24,75% de la varianza de ESTANCIA. El 75,25% residual refleja factores institucionales no observados (protocolos, gestión de camas). PESO GRD es el predictor continuo más potente (β=+4,352 vs. Sev3 β=+7,424).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Coeficientes del Modelo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3 vs. 0 → β = +7,424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paciente de severidad Mayor permanece en promedio 7,42 días MÁS hospitalizado que uno Sin Gravedad, controlando por peso, edad y sexo. Equivale a más de una semana adicional.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783080"/>
            <a:ext cx="8778240" cy="32004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GRD → β = +4,352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12264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unidad adicional de Peso GRD, la ESTANCIA aumenta 4,35 días. Un paciente con peso=3 se espera que permanezca ~8,7 días más que uno con peso=1 (mismo perfil). Es el predictor continuo más potente.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2816352"/>
            <a:ext cx="8778240" cy="3200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74320" y="28163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SEXO_BIN Mujer → β = −0,480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145536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mujeres permanecen 0,48 días menos que los hombres con igual perfil clínico. Puede reflejar mayor proporción de partos (episodios cortos). Efecto pequeño pero significativo estadísticamente.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849624"/>
            <a:ext cx="8778240" cy="320040"/>
          </a:xfrm>
          <a:prstGeom prst="rect">
            <a:avLst/>
          </a:prstGeom>
          <a:solidFill>
            <a:srgbClr val="5A6A75"/>
          </a:solidFill>
          <a:ln w="12700">
            <a:solidFill>
              <a:srgbClr val="5A6A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74320" y="384962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EDAD_INGRESO → β = +0,010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178808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año adicional de edad, ESTANCIA sube 0,010 días (~14 minutos). Una persona de 75 años permanece ~0,55 días más que una de 20. Significativo por n&gt;1M pero de baja magnitud práctica.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Residuos y Evaluación del Modelo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49808"/>
            <a:ext cx="886968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520440"/>
            <a:ext cx="2834640" cy="1417320"/>
          </a:xfrm>
          <a:prstGeom prst="rect">
            <a:avLst/>
          </a:prstGeom>
          <a:solidFill>
            <a:srgbClr val="F8FBF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182880" y="3520440"/>
            <a:ext cx="2834640" cy="3200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8288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Homocedasticidad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858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en abanico esperado para datos de estancia con asimetría positiva.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3520440"/>
            <a:ext cx="2834640" cy="14173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3172968" y="3520440"/>
            <a:ext cx="2834640" cy="320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172968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(Q-Q)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64408" y="3858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pesadas (leptocúrtica). Con n&gt;1M, TCL garantiza validez asintótica.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63056" y="3520440"/>
            <a:ext cx="2834640" cy="1417320"/>
          </a:xfrm>
          <a:prstGeom prst="rect">
            <a:avLst/>
          </a:prstGeom>
          <a:solidFill>
            <a:srgbClr val="F8FBFE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163056" y="3520440"/>
            <a:ext cx="2834640" cy="32004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163056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54496" y="3858768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PESO-SEVERIDAD=0,424 → VIF moderado (&lt;3). Dentro de límites aceptables.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Preliminar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51960" cy="1920240"/>
          </a:xfrm>
          <a:prstGeom prst="rect">
            <a:avLst/>
          </a:prstGeom>
          <a:solidFill>
            <a:srgbClr val="F8FBFE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548640" cy="192024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82880" y="749808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8412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de 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tests y regresión convergen: severidad y peso GRD son los predictores más importantes de ESTANCIA. El ANOVA confirma diferencias en los 6 pares (p&lt;0,001).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251960" cy="1920240"/>
          </a:xfrm>
          <a:prstGeom prst="rect">
            <a:avLst/>
          </a:prstGeom>
          <a:solidFill>
            <a:srgbClr val="F8FBFE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548640" cy="1920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663440" y="749808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8412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inesperado — Severidad 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22529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0 tiene media de 0,075 días (~1,8 horas), revelando que este grupo agrupa procedimientos ambulatorios, no hospitalizaciones convencionales. Explica el mayor salto Tukey HSD.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807208"/>
            <a:ext cx="4251960" cy="1920240"/>
          </a:xfrm>
          <a:prstGeom prst="rect">
            <a:avLst/>
          </a:prstGeom>
          <a:solidFill>
            <a:srgbClr val="F8FBF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182880" y="2807208"/>
            <a:ext cx="548640" cy="1920240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82880" y="2807208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GRD supera a SEVERIDAD en regresión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28269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β(PESO)=+4,352 supera al coeficiente de cualquier nivel de severidad, confirmando que la complejidad diagnóstica GRD es el predictor continuo más potente.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07208"/>
            <a:ext cx="4251960" cy="1920240"/>
          </a:xfrm>
          <a:prstGeom prst="rect">
            <a:avLst/>
          </a:prstGeom>
          <a:solidFill>
            <a:srgbClr val="F8FBF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663440" y="2807208"/>
            <a:ext cx="548640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663440" y="2807208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89864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hospitalaria no explicada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282696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2,98–10,05d (CV=0,229) entre 68 hospitales. Con R²=0,2475, el 75,25% de la varianza de ESTANCIA no se explica solo por casemix: evidencia central de variabilidad institucional.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5029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 de ESTANCIA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dependiente tiene fuerte asimetría positiva (right-skew). La transformación log(ESTANCIA+1) está pendiente para el avance final.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600200"/>
            <a:ext cx="50292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82880" y="160020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0,2475 — bajo poder explicativo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01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solo explica el 24,75% de la varianza. Variables institucionales no observadas (protocolos, gestión de camas) generan el 75,25% residual.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450592"/>
            <a:ext cx="502920" cy="65836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82880" y="24505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450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 clínica dentro de GRD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523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diagnósticos (GRD) pueden agregar casos muy heterogéneos. La variabilidad intra-GRD no está modelada aún.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300984"/>
            <a:ext cx="502920" cy="658368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82880" y="33009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009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sin efectos hospitalarios fijos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incluyó COD_HOSPITAL como efecto fijo. Se añadirá en el avance final para medir la variabilidad inter-hospitalaria no explicada.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4151376"/>
            <a:ext cx="502920" cy="658368"/>
          </a:xfrm>
          <a:prstGeom prst="rect">
            <a:avLst/>
          </a:prstGeom>
          <a:solidFill>
            <a:srgbClr val="5A6A75"/>
          </a:solidFill>
          <a:ln w="12700">
            <a:solidFill>
              <a:srgbClr val="5A6A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82880" y="41513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151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logístico pendiente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53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FALLECIDO no fue modelada en este avance. Se desarrollará regresión logística (FALLECIDO ~ SEVERIDAD + IR_MOR + Hospital) en el avance final.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Avance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4297680" cy="384048"/>
          </a:xfrm>
          <a:prstGeom prst="rect">
            <a:avLst/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82880" y="749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con COD_HOSPITAL como efecto fijo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log(ESTANCIA+1) — mejorar ajuste R²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SMR ranking por hospital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297680" cy="384048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754880" y="74980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logística: FALLECIDO ~ SEVERIDAD + IR_MOR + COD_HOSPITAL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SMR por hospital con IC 95% — ranking de mortalidad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Profundización discusión e implicancias de política pública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cruzada del informe final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3566160"/>
            <a:ext cx="87782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74320" y="3566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compartidas (Ambos)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5935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oral final 10-15 min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Entrega final + revisión cruzada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README repositorio + notebook reproducible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Preliminares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200400" cy="36576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" cy="59436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1430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severidad clínica y el peso GRD son los determinantes más importantes de la ESTANCIA hospitalaria en FONASA 2023.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" cy="59436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057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ANOVA confirma diferencias altamente significativas entre todos los niveles de severidad (η²=0,129). Tukey HSD: 6/6 pares significativos.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1480" cy="59436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regresión (R²=0,2475) muestra que PESO GRD es el predictor continuo más potente (β=+4,352 días por unidad de peso).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11480" cy="594360"/>
          </a:xfrm>
          <a:prstGeom prst="rect">
            <a:avLst/>
          </a:prstGeom>
          <a:solidFill>
            <a:srgbClr val="0D8F8A"/>
          </a:solidFill>
          <a:ln w="12700">
            <a:solidFill>
              <a:srgbClr val="0D8F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38862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variabilidad inter-hospitalaria (CV=0,229, rango 2,98–10,05d) sugiere factores institucionales no observados que se estudiarán en el avance final.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Bufadel — Renato Lenis | Análisis de Datos e Inferencia </a:t>
            </a:r>
            <a:r>
              <a:rPr lang="en-US" sz="900" dirty="0" err="1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r>
              <a:rPr lang="en-US" sz="900" dirty="0">
                <a:solidFill>
                  <a:srgbClr val="5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1626</Words>
  <Application>Microsoft Macintosh PowerPoint</Application>
  <PresentationFormat>Presentación en pantalla (16:9)</PresentationFormat>
  <Paragraphs>287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Variabilidad Hospitalaria — Egresos GRD Chile 2023</dc:title>
  <dc:subject>PptxGenJS Presentation</dc:subject>
  <dc:creator>PptxGenJS</dc:creator>
  <cp:lastModifiedBy>Renato Alonso Lenis Lara</cp:lastModifiedBy>
  <cp:revision>2</cp:revision>
  <dcterms:created xsi:type="dcterms:W3CDTF">2026-05-11T14:22:51Z</dcterms:created>
  <dcterms:modified xsi:type="dcterms:W3CDTF">2026-05-11T14:28:27Z</dcterms:modified>
</cp:coreProperties>
</file>